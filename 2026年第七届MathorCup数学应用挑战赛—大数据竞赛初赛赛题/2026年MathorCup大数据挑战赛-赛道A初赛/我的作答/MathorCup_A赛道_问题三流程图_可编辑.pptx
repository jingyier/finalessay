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498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64592"/>
            <a:ext cx="8595360" cy="877824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8EA0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274320"/>
            <a:ext cx="157276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1.csv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化学与理化特征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84831" y="274320"/>
            <a:ext cx="157276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风格信息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（22种风格）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85615" y="274320"/>
            <a:ext cx="157276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问题一输出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感官预测 / 感官画像支持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74320"/>
            <a:ext cx="157276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问题二输出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Top-3 候选解释支持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87183" y="274320"/>
            <a:ext cx="1572768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8.xlsx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阈值与注释信息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70432" y="877824"/>
            <a:ext cx="0" cy="9144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71215" y="877824"/>
            <a:ext cx="0" cy="9144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877824"/>
            <a:ext cx="0" cy="9144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72784" y="877824"/>
            <a:ext cx="0" cy="9144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73567" y="877824"/>
            <a:ext cx="0" cy="9144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70432" y="969264"/>
            <a:ext cx="6803135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969264"/>
            <a:ext cx="0" cy="237744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72000" y="969264"/>
            <a:ext cx="0" cy="73151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1207008"/>
            <a:ext cx="7589520" cy="1115568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2700">
            <a:solidFill>
              <a:srgbClr val="7FA3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234440"/>
            <a:ext cx="7589520" cy="256032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100" b="1">
                <a:solidFill>
                  <a:srgbClr val="1F3864"/>
                </a:solidFill>
                <a:latin typeface="Times New Roman"/>
                <a:ea typeface="宋体"/>
              </a:rPr>
              <a:t>数据预处理与风格特征构建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59" y="1572768"/>
            <a:ext cx="21488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262626"/>
                </a:solidFill>
                <a:latin typeface="Times New Roman"/>
                <a:ea typeface="宋体"/>
              </a:rPr>
              <a:t>226 个基础字段</a:t>
            </a:r>
          </a:p>
          <a:p>
            <a:pPr algn="ctr"/>
            <a:r>
              <a:rPr sz="1000" b="1">
                <a:solidFill>
                  <a:srgbClr val="262626"/>
                </a:solidFill>
                <a:latin typeface="Times New Roman"/>
                <a:ea typeface="宋体"/>
              </a:rPr>
              <a:t>与 5 个派生字段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82112" y="1856231"/>
            <a:ext cx="219456" cy="0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97580" y="1572768"/>
            <a:ext cx="21488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50" b="1">
                <a:solidFill>
                  <a:srgbClr val="262626"/>
                </a:solidFill>
                <a:latin typeface="Times New Roman"/>
                <a:ea typeface="宋体"/>
              </a:rPr>
              <a:t>经验分位数正态化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42432" y="1856231"/>
            <a:ext cx="219456" cy="0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57900" y="1572768"/>
            <a:ext cx="21488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000" b="1">
                <a:solidFill>
                  <a:srgbClr val="262626"/>
                </a:solidFill>
                <a:latin typeface="Times New Roman"/>
                <a:ea typeface="宋体"/>
              </a:rPr>
              <a:t>后续重算</a:t>
            </a:r>
          </a:p>
          <a:p>
            <a:pPr algn="ctr"/>
            <a:r>
              <a:rPr sz="1000" b="1">
                <a:solidFill>
                  <a:srgbClr val="262626"/>
                </a:solidFill>
                <a:latin typeface="Times New Roman"/>
                <a:ea typeface="宋体"/>
              </a:rPr>
              <a:t>5 个派生字段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0" y="2322576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554480" y="2487168"/>
            <a:ext cx="6035040" cy="603504"/>
          </a:xfrm>
          <a:prstGeom prst="roundRect">
            <a:avLst>
              <a:gd name="adj" fmla="val 6000"/>
            </a:avLst>
          </a:prstGeom>
          <a:solidFill>
            <a:srgbClr val="EDF2F9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50" b="1">
                <a:solidFill>
                  <a:srgbClr val="1F3864"/>
                </a:solidFill>
                <a:latin typeface="Times New Roman"/>
                <a:ea typeface="宋体"/>
              </a:rPr>
              <a:t>PCA 低维潜空间构建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（65 维，保留 90.1466% 方差）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3090672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71800" y="3200400"/>
            <a:ext cx="3246120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71800" y="3200400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17920" y="3200400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417320" y="3364992"/>
            <a:ext cx="3108960" cy="3017520"/>
          </a:xfrm>
          <a:prstGeom prst="roundRect">
            <a:avLst>
              <a:gd name="adj" fmla="val 6000"/>
            </a:avLst>
          </a:prstGeom>
          <a:solidFill>
            <a:srgbClr val="EFF4FB"/>
          </a:solidFill>
          <a:ln w="12700">
            <a:solidFill>
              <a:srgbClr val="7FA3D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3401568"/>
            <a:ext cx="3108960" cy="256032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050" b="1">
                <a:solidFill>
                  <a:srgbClr val="1F3864"/>
                </a:solidFill>
                <a:latin typeface="Times New Roman"/>
                <a:ea typeface="宋体"/>
              </a:rPr>
              <a:t>22 种风格化学谱生成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81912" y="3712463"/>
            <a:ext cx="2779776" cy="4937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00" b="0">
                <a:solidFill>
                  <a:srgbClr val="262626"/>
                </a:solidFill>
                <a:latin typeface="Times New Roman"/>
                <a:ea typeface="宋体"/>
              </a:rPr>
              <a:t>风格内样本混合 + 收缩扰动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71800" y="4215383"/>
            <a:ext cx="0" cy="146305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581912" y="4352544"/>
            <a:ext cx="2779776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0">
                <a:solidFill>
                  <a:srgbClr val="262626"/>
                </a:solidFill>
                <a:latin typeface="Times New Roman"/>
                <a:ea typeface="宋体"/>
              </a:rPr>
              <a:t>重算 5 个派生字段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71800" y="4837175"/>
            <a:ext cx="0" cy="146304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581912" y="4974336"/>
            <a:ext cx="277977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00" b="0">
                <a:solidFill>
                  <a:srgbClr val="262626"/>
                </a:solidFill>
                <a:latin typeface="Times New Roman"/>
                <a:ea typeface="宋体"/>
              </a:rPr>
              <a:t>借助问题一模型</a:t>
            </a:r>
          </a:p>
          <a:p>
            <a:pPr algn="ctr"/>
            <a:r>
              <a:rPr sz="900" b="0">
                <a:solidFill>
                  <a:srgbClr val="262626"/>
                </a:solidFill>
                <a:latin typeface="Times New Roman"/>
                <a:ea typeface="宋体"/>
              </a:rPr>
              <a:t>形成感官画像 / 诊断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971800" y="5550407"/>
            <a:ext cx="0" cy="146305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581912" y="5687568"/>
            <a:ext cx="2779776" cy="585216"/>
          </a:xfrm>
          <a:prstGeom prst="roundRect">
            <a:avLst>
              <a:gd name="adj" fmla="val 6000"/>
            </a:avLst>
          </a:prstGeom>
          <a:solidFill>
            <a:srgbClr val="D9E8F8"/>
          </a:solidFill>
          <a:ln w="12700">
            <a:solidFill>
              <a:srgbClr val="7FA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1">
                <a:solidFill>
                  <a:srgbClr val="262626"/>
                </a:solidFill>
                <a:latin typeface="Times New Roman"/>
                <a:ea typeface="宋体"/>
              </a:rPr>
              <a:t>22×50 条风格化生成谱</a:t>
            </a:r>
          </a:p>
          <a:p>
            <a:pPr algn="ctr"/>
            <a:r>
              <a:rPr sz="950" b="1">
                <a:solidFill>
                  <a:srgbClr val="262626"/>
                </a:solidFill>
                <a:latin typeface="Times New Roman"/>
                <a:ea typeface="宋体"/>
              </a:rPr>
              <a:t>（共 1100 条）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3364992"/>
            <a:ext cx="3108960" cy="3017520"/>
          </a:xfrm>
          <a:prstGeom prst="roundRect">
            <a:avLst>
              <a:gd name="adj" fmla="val 6000"/>
            </a:avLst>
          </a:prstGeom>
          <a:solidFill>
            <a:srgbClr val="F1F8EF"/>
          </a:solidFill>
          <a:ln w="12700">
            <a:solidFill>
              <a:srgbClr val="9BB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3401568"/>
            <a:ext cx="3108960" cy="256032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1000" b="1">
                <a:solidFill>
                  <a:srgbClr val="1F3864"/>
                </a:solidFill>
                <a:latin typeface="Times New Roman"/>
                <a:ea typeface="宋体"/>
              </a:rPr>
              <a:t>Pils/Lager → Tripel 受限迁移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09744" y="3712463"/>
            <a:ext cx="277977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00" b="0">
                <a:solidFill>
                  <a:srgbClr val="262626"/>
                </a:solidFill>
                <a:latin typeface="Times New Roman"/>
                <a:ea typeface="宋体"/>
              </a:rPr>
              <a:t>11 款 Pils/Lager 原啤酒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17920" y="4142231"/>
            <a:ext cx="0" cy="109728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809744" y="4242816"/>
            <a:ext cx="2779776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850" b="0">
                <a:solidFill>
                  <a:srgbClr val="262626"/>
                </a:solidFill>
                <a:latin typeface="Times New Roman"/>
                <a:ea typeface="宋体"/>
              </a:rPr>
              <a:t>潜空间中搜索 Tripel 迁移方向与步长</a:t>
            </a:r>
          </a:p>
          <a:p>
            <a:pPr algn="ctr"/>
            <a:r>
              <a:rPr sz="850" b="0">
                <a:solidFill>
                  <a:srgbClr val="262626"/>
                </a:solidFill>
                <a:latin typeface="Times New Roman"/>
                <a:ea typeface="宋体"/>
              </a:rPr>
              <a:t>（缺陷不恶化约束）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17920" y="4782312"/>
            <a:ext cx="0" cy="109728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809744" y="4882896"/>
            <a:ext cx="277977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0">
                <a:solidFill>
                  <a:srgbClr val="262626"/>
                </a:solidFill>
                <a:latin typeface="Times New Roman"/>
                <a:ea typeface="宋体"/>
              </a:rPr>
              <a:t>重算 5 个派生字段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17920" y="5294376"/>
            <a:ext cx="0" cy="109728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809744" y="5394960"/>
            <a:ext cx="277977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0">
                <a:solidFill>
                  <a:srgbClr val="262626"/>
                </a:solidFill>
                <a:latin typeface="Times New Roman"/>
                <a:ea typeface="宋体"/>
              </a:rPr>
              <a:t>感官画像预测与核验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217920" y="5806440"/>
            <a:ext cx="0" cy="109728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4809744" y="5907024"/>
            <a:ext cx="2779776" cy="475488"/>
          </a:xfrm>
          <a:prstGeom prst="roundRect">
            <a:avLst>
              <a:gd name="adj" fmla="val 6000"/>
            </a:avLst>
          </a:prstGeom>
          <a:solidFill>
            <a:srgbClr val="DDEBD3"/>
          </a:solidFill>
          <a:ln w="12700">
            <a:solidFill>
              <a:srgbClr val="9BB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950" b="1">
                <a:solidFill>
                  <a:srgbClr val="262626"/>
                </a:solidFill>
                <a:latin typeface="Times New Roman"/>
                <a:ea typeface="宋体"/>
              </a:rPr>
              <a:t>输出 11 条受限迁移方案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" y="4023360"/>
            <a:ext cx="1243584" cy="1097280"/>
          </a:xfrm>
          <a:prstGeom prst="roundRect">
            <a:avLst>
              <a:gd name="adj" fmla="val 6000"/>
            </a:avLst>
          </a:prstGeom>
          <a:solidFill>
            <a:srgbClr val="FDF6EC"/>
          </a:solidFill>
          <a:ln w="12700">
            <a:solidFill>
              <a:srgbClr val="E0B3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" y="4041648"/>
            <a:ext cx="1243584" cy="237744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950" b="1">
                <a:solidFill>
                  <a:srgbClr val="B06020"/>
                </a:solidFill>
                <a:latin typeface="Times New Roman"/>
                <a:ea typeface="宋体"/>
              </a:rPr>
              <a:t>问题二支持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8872" y="4334256"/>
            <a:ext cx="1115568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850" b="0">
                <a:solidFill>
                  <a:srgbClr val="262626"/>
                </a:solidFill>
                <a:latin typeface="Times New Roman"/>
                <a:ea typeface="宋体"/>
              </a:rPr>
              <a:t>Top-3 候选解释</a:t>
            </a:r>
          </a:p>
          <a:p>
            <a:pPr algn="ctr"/>
            <a:r>
              <a:rPr sz="850" b="0">
                <a:solidFill>
                  <a:srgbClr val="262626"/>
                </a:solidFill>
                <a:latin typeface="Times New Roman"/>
                <a:ea typeface="宋体"/>
              </a:rPr>
              <a:t>化学变化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293876" y="4663440"/>
            <a:ext cx="128016" cy="0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900416" y="3840480"/>
            <a:ext cx="1188720" cy="1645920"/>
          </a:xfrm>
          <a:prstGeom prst="roundRect">
            <a:avLst>
              <a:gd name="adj" fmla="val 6000"/>
            </a:avLst>
          </a:prstGeom>
          <a:solidFill>
            <a:srgbClr val="F1F8EF"/>
          </a:solidFill>
          <a:ln w="12700">
            <a:solidFill>
              <a:srgbClr val="9BBF9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0416" y="3858768"/>
            <a:ext cx="1188720" cy="237744"/>
          </a:xfrm>
          <a:prstGeom prst="rect">
            <a:avLst/>
          </a:prstGeom>
          <a:noFill/>
        </p:spPr>
        <p:txBody>
          <a:bodyPr wrap="square" anchor="ctr" lIns="27000" rIns="27000" tIns="9000" bIns="9000">
            <a:spAutoFit/>
          </a:bodyPr>
          <a:lstStyle/>
          <a:p>
            <a:pPr algn="ctr"/>
            <a:r>
              <a:rPr sz="950" b="1">
                <a:solidFill>
                  <a:srgbClr val="1F3864"/>
                </a:solidFill>
                <a:latin typeface="Times New Roman"/>
                <a:ea typeface="宋体"/>
              </a:rPr>
              <a:t>8.xlsx 支持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64424" y="4151376"/>
            <a:ext cx="106070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850" b="0">
                <a:solidFill>
                  <a:srgbClr val="262626"/>
                </a:solidFill>
                <a:latin typeface="Times New Roman"/>
                <a:ea typeface="宋体"/>
              </a:rPr>
              <a:t>缺陷上限约束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（阈值信息）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64424" y="4809744"/>
            <a:ext cx="1060704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EA0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850" b="0">
                <a:solidFill>
                  <a:srgbClr val="262626"/>
                </a:solidFill>
                <a:latin typeface="Times New Roman"/>
                <a:ea typeface="宋体"/>
              </a:rPr>
              <a:t>结果审查</a:t>
            </a:r>
          </a:p>
          <a:p>
            <a:pPr algn="ctr"/>
            <a:r>
              <a:rPr sz="850" b="0">
                <a:solidFill>
                  <a:srgbClr val="404040"/>
                </a:solidFill>
                <a:latin typeface="Times New Roman"/>
                <a:ea typeface="宋体"/>
              </a:rPr>
              <a:t>（注释信息）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7776971" y="4480560"/>
            <a:ext cx="128017" cy="0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71800" y="6382512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217920" y="6382512"/>
            <a:ext cx="0" cy="109728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971800" y="6492240"/>
            <a:ext cx="3246120" cy="0"/>
          </a:xfrm>
          <a:prstGeom prst="line">
            <a:avLst/>
          </a:prstGeom>
          <a:ln w="12700">
            <a:solidFill>
              <a:srgbClr val="4A556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72000" y="6492240"/>
            <a:ext cx="0" cy="164592"/>
          </a:xfrm>
          <a:prstGeom prst="line">
            <a:avLst/>
          </a:prstGeom>
          <a:ln w="15875">
            <a:solidFill>
              <a:srgbClr val="1F3864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1097280" y="6656832"/>
            <a:ext cx="6949440" cy="658368"/>
          </a:xfrm>
          <a:prstGeom prst="roundRect">
            <a:avLst>
              <a:gd name="adj" fmla="val 6000"/>
            </a:avLst>
          </a:prstGeom>
          <a:solidFill>
            <a:srgbClr val="F0EBFA"/>
          </a:solidFill>
          <a:ln w="12700">
            <a:solidFill>
              <a:srgbClr val="B4A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000" rIns="27000" tIns="9000" bIns="9000"/>
          <a:lstStyle/>
          <a:p>
            <a:pPr algn="ctr"/>
            <a:r>
              <a:rPr sz="1150" b="1">
                <a:solidFill>
                  <a:srgbClr val="1F3864"/>
                </a:solidFill>
                <a:latin typeface="Times New Roman"/>
                <a:ea typeface="宋体"/>
              </a:rPr>
              <a:t>最终输出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Times New Roman"/>
                <a:ea typeface="宋体"/>
              </a:rPr>
              <a:t>1100 条风格化生成谱 + 11 条受限迁移方案 + 相应感官画像与核验结果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