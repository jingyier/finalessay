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46304"/>
            <a:ext cx="11551615" cy="676656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240">
            <a:solidFill>
              <a:srgbClr val="B4C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551615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ctr"/>
            <a:r>
              <a:rPr sz="1300" b="1" dirty="0" err="1">
                <a:solidFill>
                  <a:srgbClr val="1F3864"/>
                </a:solidFill>
                <a:latin typeface="微软雅黑"/>
              </a:rPr>
              <a:t>研究数据与信息来源</a:t>
            </a:r>
            <a:endParaRPr sz="1300" b="1" dirty="0">
              <a:solidFill>
                <a:srgbClr val="1F3864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11551615" cy="29260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1.csv 化学与理化特征（250×231）  ｜  4.csv 连续感官标签（250×50）  ｜  2.csv / 6.csv 相关结构与核验信息  ｜  3.xlsx 评分卡模板  ｜  8.xlsx 阈值与注释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0399" y="859536"/>
            <a:ext cx="310896" cy="182880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078992"/>
            <a:ext cx="11551615" cy="676656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524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11551615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ctr"/>
            <a:r>
              <a:rPr sz="1300" b="1">
                <a:solidFill>
                  <a:srgbClr val="1F3864"/>
                </a:solidFill>
                <a:latin typeface="微软雅黑"/>
              </a:rPr>
              <a:t>共享数据整理与基础处理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08176"/>
            <a:ext cx="11551615" cy="29260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beer 主键对齐  ｜  附件结构核验  ｜  变量识别与量纲核查  ｜  缺失与异常检查  ｜  派生字段重算规则</a:t>
            </a:r>
          </a:p>
        </p:txBody>
      </p:sp>
      <p:sp>
        <p:nvSpPr>
          <p:cNvPr id="9" name="Down Arrow 8"/>
          <p:cNvSpPr/>
          <p:nvPr/>
        </p:nvSpPr>
        <p:spPr>
          <a:xfrm>
            <a:off x="2034997" y="1792224"/>
            <a:ext cx="274320" cy="164592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5958687" y="1792224"/>
            <a:ext cx="274320" cy="164592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9882378" y="1792224"/>
            <a:ext cx="274320" cy="164592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" y="1975104"/>
            <a:ext cx="3704234" cy="365760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问题一  感官分级评分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40864"/>
            <a:ext cx="3704234" cy="3529584"/>
          </a:xfrm>
          <a:prstGeom prst="roundRect">
            <a:avLst>
              <a:gd name="adj" fmla="val 5000"/>
            </a:avLst>
          </a:prstGeom>
          <a:solidFill>
            <a:srgbClr val="EAF1F9"/>
          </a:solidFill>
          <a:ln w="1524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768" y="2450592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21207" y="2560320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528669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开发集与目标样本划分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734409"/>
            <a:ext cx="2917850" cy="237743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 dirty="0">
                <a:solidFill>
                  <a:srgbClr val="595959"/>
                </a:solidFill>
                <a:latin typeface="微软雅黑"/>
              </a:rPr>
              <a:t>Beer 13–250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开发；Beer</a:t>
            </a:r>
            <a:r>
              <a:rPr sz="750" b="0" dirty="0">
                <a:solidFill>
                  <a:srgbClr val="595959"/>
                </a:solidFill>
                <a:latin typeface="微软雅黑"/>
              </a:rPr>
              <a:t> 1–12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目标</a:t>
            </a:r>
            <a:endParaRPr sz="750" b="0" dirty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2053285" y="2953512"/>
            <a:ext cx="237744" cy="201168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768" y="3163824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1207" y="3273552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6" y="3243834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 dirty="0" err="1">
                <a:solidFill>
                  <a:srgbClr val="262626"/>
                </a:solidFill>
                <a:latin typeface="微软雅黑"/>
              </a:rPr>
              <a:t>折内预处理与模型比较</a:t>
            </a:r>
            <a:endParaRPr sz="1000" b="1" dirty="0">
              <a:solidFill>
                <a:srgbClr val="262626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6" y="3449574"/>
            <a:ext cx="2917850" cy="237743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 dirty="0" err="1">
                <a:solidFill>
                  <a:srgbClr val="595959"/>
                </a:solidFill>
                <a:latin typeface="微软雅黑"/>
              </a:rPr>
              <a:t>风格分层五折；ET</a:t>
            </a:r>
            <a:r>
              <a:rPr sz="750" b="0" dirty="0">
                <a:solidFill>
                  <a:srgbClr val="595959"/>
                </a:solidFill>
                <a:latin typeface="微软雅黑"/>
              </a:rPr>
              <a:t> / RF /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GB（并参考均值、岭回归、PCR</a:t>
            </a:r>
            <a:r>
              <a:rPr sz="750" b="0" dirty="0">
                <a:solidFill>
                  <a:srgbClr val="595959"/>
                </a:solidFill>
                <a:latin typeface="微软雅黑"/>
              </a:rPr>
              <a:t>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053285" y="3666744"/>
            <a:ext cx="237744" cy="201168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9768" y="3877056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21207" y="3986784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6" y="3959352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 dirty="0" err="1">
                <a:solidFill>
                  <a:srgbClr val="262626"/>
                </a:solidFill>
                <a:latin typeface="微软雅黑"/>
              </a:rPr>
              <a:t>加权树模型集成</a:t>
            </a:r>
            <a:endParaRPr sz="1000" b="1" dirty="0">
              <a:solidFill>
                <a:srgbClr val="262626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6966" y="4165092"/>
            <a:ext cx="2917850" cy="23774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 dirty="0">
                <a:solidFill>
                  <a:srgbClr val="595959"/>
                </a:solidFill>
                <a:latin typeface="微软雅黑"/>
              </a:rPr>
              <a:t>OOF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冻结权重，预测</a:t>
            </a:r>
            <a:r>
              <a:rPr sz="750" b="0" dirty="0">
                <a:solidFill>
                  <a:srgbClr val="595959"/>
                </a:solidFill>
                <a:latin typeface="微软雅黑"/>
              </a:rPr>
              <a:t> 50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维连续感官量</a:t>
            </a:r>
            <a:endParaRPr sz="750" b="0" dirty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2053285" y="4379976"/>
            <a:ext cx="237744" cy="201168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9768" y="4590288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21207" y="4700016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6" y="4687824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等级映射与无标签项补充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6" y="4893564"/>
            <a:ext cx="2917850" cy="23774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1%/99% 分位确定映射 0–6 级；两项乙醛外推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053285" y="5093208"/>
            <a:ext cx="237744" cy="201168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9768" y="5303520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1207" y="5413248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6" y="5383354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输出与核验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6" y="5589094"/>
            <a:ext cx="2917850" cy="23774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12 张评分卡 + 连续误差与代理等级一致性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3730" y="1975104"/>
            <a:ext cx="3704234" cy="365760"/>
          </a:xfrm>
          <a:prstGeom prst="roundRect">
            <a:avLst>
              <a:gd name="adj" fmla="val 14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问题二  关键化合物识别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43730" y="2340864"/>
            <a:ext cx="3704234" cy="3529584"/>
          </a:xfrm>
          <a:prstGeom prst="roundRect">
            <a:avLst>
              <a:gd name="adj" fmla="val 5000"/>
            </a:avLst>
          </a:prstGeom>
          <a:solidFill>
            <a:srgbClr val="FBEDED"/>
          </a:solidFill>
          <a:ln w="15240">
            <a:solidFill>
              <a:srgbClr val="E3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353458" y="2450592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444898" y="2560320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0658" y="2541215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 dirty="0" err="1">
                <a:solidFill>
                  <a:srgbClr val="262626"/>
                </a:solidFill>
                <a:latin typeface="微软雅黑"/>
              </a:rPr>
              <a:t>候选集合确定</a:t>
            </a:r>
            <a:endParaRPr sz="1000" b="1" dirty="0">
              <a:solidFill>
                <a:srgbClr val="262626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10658" y="2746955"/>
            <a:ext cx="2917850" cy="237743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250 款啤酒对齐；保留 217 项候选测量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5976975" y="2953512"/>
            <a:ext cx="237744" cy="201168"/>
          </a:xfrm>
          <a:prstGeom prst="down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353458" y="3163824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444898" y="3273552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0658" y="3242724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 dirty="0" err="1">
                <a:solidFill>
                  <a:srgbClr val="262626"/>
                </a:solidFill>
                <a:latin typeface="微软雅黑"/>
              </a:rPr>
              <a:t>直接化学</a:t>
            </a:r>
            <a:r>
              <a:rPr sz="1000" b="1" dirty="0">
                <a:solidFill>
                  <a:srgbClr val="262626"/>
                </a:solidFill>
                <a:latin typeface="微软雅黑"/>
              </a:rPr>
              <a:t>—</a:t>
            </a:r>
            <a:r>
              <a:rPr sz="1000" b="1" dirty="0" err="1">
                <a:solidFill>
                  <a:srgbClr val="262626"/>
                </a:solidFill>
                <a:latin typeface="微软雅黑"/>
              </a:rPr>
              <a:t>感官关联</a:t>
            </a:r>
            <a:endParaRPr sz="1000" b="1" dirty="0">
              <a:solidFill>
                <a:srgbClr val="262626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810658" y="3448464"/>
            <a:ext cx="2917850" cy="237743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 dirty="0" err="1">
                <a:solidFill>
                  <a:srgbClr val="595959"/>
                </a:solidFill>
                <a:latin typeface="微软雅黑"/>
              </a:rPr>
              <a:t>逐项</a:t>
            </a:r>
            <a:r>
              <a:rPr sz="750" b="0" dirty="0">
                <a:solidFill>
                  <a:srgbClr val="595959"/>
                </a:solidFill>
                <a:latin typeface="微软雅黑"/>
              </a:rPr>
              <a:t> Spearman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秩相关</a:t>
            </a:r>
            <a:endParaRPr sz="750" b="0" dirty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49" name="Down Arrow 48"/>
          <p:cNvSpPr/>
          <p:nvPr/>
        </p:nvSpPr>
        <p:spPr>
          <a:xfrm>
            <a:off x="5976975" y="3666744"/>
            <a:ext cx="237744" cy="201168"/>
          </a:xfrm>
          <a:prstGeom prst="down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353458" y="3877056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444898" y="3986784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10658" y="3950094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化学共表达网络构建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0658" y="4155834"/>
            <a:ext cx="2917850" cy="23774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利用 2.csv 的带符号相关结构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5976975" y="4379976"/>
            <a:ext cx="237744" cy="201168"/>
          </a:xfrm>
          <a:prstGeom prst="down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353458" y="4590288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444898" y="4700016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10658" y="4680912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 dirty="0" err="1">
                <a:solidFill>
                  <a:srgbClr val="262626"/>
                </a:solidFill>
                <a:latin typeface="微软雅黑"/>
              </a:rPr>
              <a:t>证据融合与去冗余</a:t>
            </a:r>
            <a:r>
              <a:rPr sz="1000" b="1" dirty="0">
                <a:solidFill>
                  <a:srgbClr val="262626"/>
                </a:solidFill>
                <a:latin typeface="微软雅黑"/>
              </a:rPr>
              <a:t> Top-3 </a:t>
            </a:r>
            <a:r>
              <a:rPr sz="1000" b="1" dirty="0" err="1">
                <a:solidFill>
                  <a:srgbClr val="262626"/>
                </a:solidFill>
                <a:latin typeface="微软雅黑"/>
              </a:rPr>
              <a:t>选择</a:t>
            </a:r>
            <a:endParaRPr sz="1000" b="1" dirty="0">
              <a:solidFill>
                <a:srgbClr val="262626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10658" y="4886652"/>
            <a:ext cx="2917850" cy="23774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 dirty="0" err="1">
                <a:solidFill>
                  <a:srgbClr val="595959"/>
                </a:solidFill>
                <a:latin typeface="微软雅黑"/>
              </a:rPr>
              <a:t>直接关联</a:t>
            </a:r>
            <a:r>
              <a:rPr sz="750" b="0" dirty="0">
                <a:solidFill>
                  <a:srgbClr val="595959"/>
                </a:solidFill>
                <a:latin typeface="微软雅黑"/>
              </a:rPr>
              <a:t> +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网络传播</a:t>
            </a:r>
            <a:r>
              <a:rPr sz="750" b="0" dirty="0">
                <a:solidFill>
                  <a:srgbClr val="595959"/>
                </a:solidFill>
                <a:latin typeface="微软雅黑"/>
              </a:rPr>
              <a:t> + </a:t>
            </a:r>
            <a:r>
              <a:rPr sz="750" b="0" dirty="0" err="1">
                <a:solidFill>
                  <a:srgbClr val="595959"/>
                </a:solidFill>
                <a:latin typeface="微软雅黑"/>
              </a:rPr>
              <a:t>去冗余规则</a:t>
            </a:r>
            <a:endParaRPr sz="750" b="0" dirty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59" name="Down Arrow 58"/>
          <p:cNvSpPr/>
          <p:nvPr/>
        </p:nvSpPr>
        <p:spPr>
          <a:xfrm>
            <a:off x="5976975" y="5093208"/>
            <a:ext cx="237744" cy="201168"/>
          </a:xfrm>
          <a:prstGeom prst="down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4353458" y="5303520"/>
            <a:ext cx="348477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444898" y="5413248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10658" y="5370696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稳定性与结果交付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0658" y="5576436"/>
            <a:ext cx="2917850" cy="23774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200 次 Bootstrap；50×3 关联候选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67420" y="1975104"/>
            <a:ext cx="3704234" cy="365760"/>
          </a:xfrm>
          <a:prstGeom prst="roundRect">
            <a:avLst>
              <a:gd name="adj" fmla="val 14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问题三  风格条件生成与迁移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67420" y="2340864"/>
            <a:ext cx="3704234" cy="3529584"/>
          </a:xfrm>
          <a:prstGeom prst="roundRect">
            <a:avLst>
              <a:gd name="adj" fmla="val 5000"/>
            </a:avLst>
          </a:prstGeom>
          <a:solidFill>
            <a:srgbClr val="EDF5E9"/>
          </a:solidFill>
          <a:ln w="15240">
            <a:solidFill>
              <a:srgbClr val="A9D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277148" y="2450592"/>
            <a:ext cx="348477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D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368588" y="2514600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4348" y="2473452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变量识别与风格对象确定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4348" y="2665476"/>
            <a:ext cx="2917850" cy="16916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226 个基础字段 + 5 个派生字段；22 种风格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9900665" y="2862072"/>
            <a:ext cx="237744" cy="164592"/>
          </a:xfrm>
          <a:prstGeom prst="downArrow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277148" y="3035808"/>
            <a:ext cx="348477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D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368588" y="3099816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4348" y="3058668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边际变换与低维结构学习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4348" y="3250692"/>
            <a:ext cx="2917850" cy="16916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经验分位数正态化 + PCA（65 维）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9900665" y="3447288"/>
            <a:ext cx="237744" cy="164592"/>
          </a:xfrm>
          <a:prstGeom prst="downArrow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8277148" y="3621024"/>
            <a:ext cx="348477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D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368588" y="3685032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34348" y="3643884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风格条件化学生成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34348" y="3835908"/>
            <a:ext cx="2917850" cy="16916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风格内样本混合与收缩扰动</a:t>
            </a:r>
          </a:p>
        </p:txBody>
      </p:sp>
      <p:sp>
        <p:nvSpPr>
          <p:cNvPr id="80" name="Down Arrow 79"/>
          <p:cNvSpPr/>
          <p:nvPr/>
        </p:nvSpPr>
        <p:spPr>
          <a:xfrm>
            <a:off x="9900665" y="4032504"/>
            <a:ext cx="237744" cy="164592"/>
          </a:xfrm>
          <a:prstGeom prst="downArrow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277148" y="4206240"/>
            <a:ext cx="348477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D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8368588" y="4270248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34348" y="4229100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派生指标重算与感官画像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34348" y="4421124"/>
            <a:ext cx="2917850" cy="169163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重算派生列；形成风格化感官画像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9900665" y="4617720"/>
            <a:ext cx="237744" cy="164592"/>
          </a:xfrm>
          <a:prstGeom prst="downArrow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277148" y="4791456"/>
            <a:ext cx="348477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D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368588" y="4855464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34348" y="4814316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留出诊断与受限迁移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34348" y="5006340"/>
            <a:ext cx="2917850" cy="169163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生成有效性检查；Pils/Lager → Tripel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9900665" y="5202936"/>
            <a:ext cx="237744" cy="164592"/>
          </a:xfrm>
          <a:prstGeom prst="downArrow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8277148" y="5376672"/>
            <a:ext cx="348477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D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368588" y="5440680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34348" y="5399532"/>
            <a:ext cx="2917850" cy="201168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微软雅黑"/>
              </a:rPr>
              <a:t>输出与约束核验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34348" y="5591556"/>
            <a:ext cx="2917850" cy="169163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微软雅黑"/>
              </a:rPr>
              <a:t>1100 条生成谱 + 11 条迁移方案</a:t>
            </a:r>
          </a:p>
        </p:txBody>
      </p:sp>
      <p:sp>
        <p:nvSpPr>
          <p:cNvPr id="95" name="Down Arrow 94"/>
          <p:cNvSpPr/>
          <p:nvPr/>
        </p:nvSpPr>
        <p:spPr>
          <a:xfrm>
            <a:off x="2034997" y="5907024"/>
            <a:ext cx="274320" cy="164592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Down Arrow 95"/>
          <p:cNvSpPr/>
          <p:nvPr/>
        </p:nvSpPr>
        <p:spPr>
          <a:xfrm>
            <a:off x="5958687" y="5907024"/>
            <a:ext cx="274320" cy="164592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Down Arrow 96"/>
          <p:cNvSpPr/>
          <p:nvPr/>
        </p:nvSpPr>
        <p:spPr>
          <a:xfrm>
            <a:off x="9882378" y="5907024"/>
            <a:ext cx="274320" cy="164592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320040" y="6108192"/>
            <a:ext cx="11551615" cy="566928"/>
          </a:xfrm>
          <a:prstGeom prst="roundRect">
            <a:avLst>
              <a:gd name="adj" fmla="val 8000"/>
            </a:avLst>
          </a:prstGeom>
          <a:solidFill>
            <a:srgbClr val="F0F0F7"/>
          </a:solidFill>
          <a:ln w="15240">
            <a:solidFill>
              <a:srgbClr val="B4B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20040" y="6135624"/>
            <a:ext cx="11551615" cy="237744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ctr"/>
            <a:r>
              <a:rPr sz="1150" b="1">
                <a:solidFill>
                  <a:srgbClr val="1F3864"/>
                </a:solidFill>
                <a:latin typeface="微软雅黑"/>
              </a:rPr>
              <a:t>跨题接口与支撑关系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0040" y="6391656"/>
            <a:ext cx="11551615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微软雅黑"/>
              </a:rPr>
              <a:t>问题一的感官预测用于问题三的生成谱画像  ｜  问题二的 Top-3 候选用于问题三的化学解释  ｜  8.xlsx 的阈值与注释支持问题二审查与问题三缺陷约束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195</Words>
  <Application>Microsoft Office PowerPoint</Application>
  <PresentationFormat>宽屏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馨泽 刘</cp:lastModifiedBy>
  <cp:revision>2</cp:revision>
  <dcterms:created xsi:type="dcterms:W3CDTF">2013-01-27T09:14:16Z</dcterms:created>
  <dcterms:modified xsi:type="dcterms:W3CDTF">2026-10-29T17:53:03Z</dcterms:modified>
  <cp:category/>
</cp:coreProperties>
</file>