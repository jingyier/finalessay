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9552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64592"/>
            <a:ext cx="8595360" cy="8229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8EA0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" y="164592"/>
            <a:ext cx="768096" cy="822960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850" b="1">
                <a:solidFill>
                  <a:srgbClr val="1F3864"/>
                </a:solidFill>
                <a:latin typeface="Times New Roman"/>
                <a:ea typeface="宋体"/>
              </a:rPr>
              <a:t>数据输入</a:t>
            </a:r>
          </a:p>
          <a:p>
            <a:pPr algn="ctr"/>
            <a:r>
              <a:rPr sz="850" b="1">
                <a:solidFill>
                  <a:srgbClr val="1F3864"/>
                </a:solidFill>
                <a:latin typeface="Times New Roman"/>
                <a:ea typeface="宋体"/>
              </a:rPr>
              <a:t>（5 个文件）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"/>
            <a:ext cx="1481328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262626"/>
                </a:solidFill>
                <a:latin typeface="Times New Roman"/>
                <a:ea typeface="宋体"/>
              </a:rPr>
              <a:t>1.csv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化学与理化特征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47188" y="274320"/>
            <a:ext cx="1481328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262626"/>
                </a:solidFill>
                <a:latin typeface="Times New Roman"/>
                <a:ea typeface="宋体"/>
              </a:rPr>
              <a:t>4.csv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连续感官标签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（50 个感官维度）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97096" y="274320"/>
            <a:ext cx="1481328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262626"/>
                </a:solidFill>
                <a:latin typeface="Times New Roman"/>
                <a:ea typeface="宋体"/>
              </a:rPr>
              <a:t>2.csv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化学相关矩阵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7004" y="274320"/>
            <a:ext cx="1481328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262626"/>
                </a:solidFill>
                <a:latin typeface="Times New Roman"/>
                <a:ea typeface="宋体"/>
              </a:rPr>
              <a:t>6.csv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预计算相关摘要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（数值一致性核验）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6912" y="274320"/>
            <a:ext cx="1481328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262626"/>
                </a:solidFill>
                <a:latin typeface="Times New Roman"/>
                <a:ea typeface="宋体"/>
              </a:rPr>
              <a:t>8.xlsx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来源与注释审查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（阈值、命名信息）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37943" y="877824"/>
            <a:ext cx="0" cy="82296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87852" y="877824"/>
            <a:ext cx="0" cy="82296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877824"/>
            <a:ext cx="0" cy="82296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87668" y="877824"/>
            <a:ext cx="0" cy="82296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37576" y="877824"/>
            <a:ext cx="0" cy="82296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37943" y="960120"/>
            <a:ext cx="6199633" cy="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960120"/>
            <a:ext cx="0" cy="192024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960120"/>
            <a:ext cx="0" cy="27432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554480" y="1152144"/>
            <a:ext cx="6035040" cy="64008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50" b="1">
                <a:solidFill>
                  <a:srgbClr val="1F3864"/>
                </a:solidFill>
                <a:latin typeface="Times New Roman"/>
                <a:ea typeface="宋体"/>
              </a:rPr>
              <a:t>样本对齐与候选集确定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按 beer 对齐（250 款啤酒），剔除非独立指标，保留 217 项候选测量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1792224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400300" y="1901952"/>
            <a:ext cx="4343400" cy="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00300" y="1901952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43700" y="1901952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2066543"/>
            <a:ext cx="3794760" cy="1645920"/>
          </a:xfrm>
          <a:prstGeom prst="roundRect">
            <a:avLst>
              <a:gd name="adj" fmla="val 6000"/>
            </a:avLst>
          </a:prstGeom>
          <a:solidFill>
            <a:srgbClr val="FDF3F2"/>
          </a:solidFill>
          <a:ln w="12700">
            <a:solidFill>
              <a:srgbClr val="D9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103120"/>
            <a:ext cx="3794760" cy="256032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Times New Roman"/>
                <a:ea typeface="宋体"/>
              </a:rPr>
              <a:t>A. 直接化学—感官关联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" y="2450592"/>
            <a:ext cx="3392424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1F3864"/>
                </a:solidFill>
                <a:latin typeface="Times New Roman"/>
                <a:ea typeface="宋体"/>
              </a:rPr>
              <a:t>计算 Spearman 相关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得到各化学项与感官维度的相关性证据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00300" y="3054096"/>
            <a:ext cx="0" cy="146304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4088" y="3200400"/>
            <a:ext cx="3392424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0">
                <a:solidFill>
                  <a:srgbClr val="262626"/>
                </a:solidFill>
                <a:latin typeface="Times New Roman"/>
                <a:ea typeface="宋体"/>
              </a:rPr>
              <a:t>生成每个感官维度的候选化合物与证据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2066543"/>
            <a:ext cx="3794760" cy="1645920"/>
          </a:xfrm>
          <a:prstGeom prst="roundRect">
            <a:avLst>
              <a:gd name="adj" fmla="val 6000"/>
            </a:avLst>
          </a:prstGeom>
          <a:solidFill>
            <a:srgbClr val="F1F8EF"/>
          </a:solidFill>
          <a:ln w="12700">
            <a:solidFill>
              <a:srgbClr val="9BB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2103120"/>
            <a:ext cx="3794760" cy="256032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Times New Roman"/>
                <a:ea typeface="宋体"/>
              </a:rPr>
              <a:t>B. 带符号化学共表达网络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7488" y="2450592"/>
            <a:ext cx="3392424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1F3864"/>
                </a:solidFill>
                <a:latin typeface="Times New Roman"/>
                <a:ea typeface="宋体"/>
              </a:rPr>
              <a:t>基于 2.csv 构建共表达网络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利用化学项相关结构，描述共变关系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43700" y="3054096"/>
            <a:ext cx="0" cy="146304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047488" y="3200400"/>
            <a:ext cx="3392424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0">
                <a:solidFill>
                  <a:srgbClr val="262626"/>
                </a:solidFill>
                <a:latin typeface="Times New Roman"/>
                <a:ea typeface="宋体"/>
              </a:rPr>
              <a:t>生成每个感官维度的候选化合物与证据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400300" y="3712463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43700" y="3712463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400300" y="3822191"/>
            <a:ext cx="4343400" cy="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3822191"/>
            <a:ext cx="0" cy="164593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011680" y="3986784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2700">
            <a:solidFill>
              <a:srgbClr val="E0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50" b="1">
                <a:solidFill>
                  <a:srgbClr val="1F3864"/>
                </a:solidFill>
                <a:latin typeface="Times New Roman"/>
                <a:ea typeface="宋体"/>
              </a:rPr>
              <a:t>证据融合与 Top-3 选择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结合直接关联证据、网络传播与去冗余规则，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为每个感官维度生成 Top-3 候选化合物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72000" y="4718304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74320" y="4882896"/>
            <a:ext cx="8595360" cy="786384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2700">
            <a:solidFill>
              <a:srgbClr val="7FA3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" y="4882896"/>
            <a:ext cx="914400" cy="786384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Times New Roman"/>
                <a:ea typeface="宋体"/>
              </a:rPr>
              <a:t>稳定性检验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94560" y="4974336"/>
            <a:ext cx="475488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00" b="1">
                <a:solidFill>
                  <a:srgbClr val="1F3864"/>
                </a:solidFill>
                <a:latin typeface="Times New Roman"/>
                <a:ea typeface="宋体"/>
              </a:rPr>
              <a:t>200 次 Bootstrap 抽样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检验入选频率与集合重合度，获得稳定性信息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0" y="5669280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74320" y="5833872"/>
            <a:ext cx="8595360" cy="914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8EA0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" y="5833872"/>
            <a:ext cx="960120" cy="914400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Times New Roman"/>
                <a:ea typeface="宋体"/>
              </a:rPr>
              <a:t>化学信息</a:t>
            </a:r>
          </a:p>
          <a:p>
            <a:pPr algn="ctr"/>
            <a:r>
              <a:rPr sz="1000" b="1">
                <a:solidFill>
                  <a:srgbClr val="1F3864"/>
                </a:solidFill>
                <a:latin typeface="Times New Roman"/>
                <a:ea typeface="宋体"/>
              </a:rPr>
              <a:t>后验审查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71600" y="5943600"/>
            <a:ext cx="352044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1F3864"/>
                </a:solidFill>
                <a:latin typeface="Times New Roman"/>
                <a:ea typeface="宋体"/>
              </a:rPr>
              <a:t>基于 8.xlsx 审查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来源、阈值与命名信息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74920" y="5943600"/>
            <a:ext cx="352044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1F3864"/>
                </a:solidFill>
                <a:latin typeface="Times New Roman"/>
                <a:ea typeface="宋体"/>
              </a:rPr>
              <a:t>基于 6.csv 核验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字段映射与数值核验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（不作为外部验证）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72000" y="6748272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274320" y="6912864"/>
            <a:ext cx="8595360" cy="786384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2700">
            <a:solidFill>
              <a:srgbClr val="7FA3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6912864"/>
            <a:ext cx="914400" cy="786384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Times New Roman"/>
                <a:ea typeface="宋体"/>
              </a:rPr>
              <a:t>输出结果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45920" y="7004304"/>
            <a:ext cx="5852160" cy="603504"/>
          </a:xfrm>
          <a:prstGeom prst="roundRect">
            <a:avLst>
              <a:gd name="adj" fmla="val 6000"/>
            </a:avLst>
          </a:prstGeom>
          <a:solidFill>
            <a:srgbClr val="D9E8F8"/>
          </a:solidFill>
          <a:ln w="12700">
            <a:solidFill>
              <a:srgbClr val="7FA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00" b="1">
                <a:solidFill>
                  <a:srgbClr val="1F3864"/>
                </a:solidFill>
                <a:latin typeface="Times New Roman"/>
                <a:ea typeface="宋体"/>
              </a:rPr>
              <a:t>50 个感官维度 × 每维 3 项候选化合物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并附稳定性信息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