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864108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64592"/>
            <a:ext cx="2039112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EA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9000" bIns="9000"/>
          <a:lstStyle/>
          <a:p>
            <a:pPr algn="ctr"/>
            <a:r>
              <a:rPr sz="1100" b="1">
                <a:solidFill>
                  <a:srgbClr val="262626"/>
                </a:solidFill>
                <a:latin typeface="Times New Roman"/>
                <a:ea typeface="宋体"/>
              </a:rPr>
              <a:t>1.csv</a:t>
            </a:r>
          </a:p>
          <a:p>
            <a:pPr algn="ctr"/>
            <a:r>
              <a:rPr sz="850" b="0">
                <a:solidFill>
                  <a:srgbClr val="404040"/>
                </a:solidFill>
                <a:latin typeface="Times New Roman"/>
                <a:ea typeface="宋体"/>
              </a:rPr>
              <a:t>化学与理化特征</a:t>
            </a:r>
          </a:p>
          <a:p>
            <a:pPr algn="ctr"/>
            <a:r>
              <a:rPr sz="850" b="0">
                <a:solidFill>
                  <a:srgbClr val="404040"/>
                </a:solidFill>
                <a:latin typeface="Times New Roman"/>
                <a:ea typeface="宋体"/>
              </a:rPr>
              <a:t>（250×231）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459736" y="164592"/>
            <a:ext cx="2039112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EA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9000" bIns="9000"/>
          <a:lstStyle/>
          <a:p>
            <a:pPr algn="ctr"/>
            <a:r>
              <a:rPr sz="1100" b="1">
                <a:solidFill>
                  <a:srgbClr val="262626"/>
                </a:solidFill>
                <a:latin typeface="Times New Roman"/>
                <a:ea typeface="宋体"/>
              </a:rPr>
              <a:t>4.csv</a:t>
            </a:r>
          </a:p>
          <a:p>
            <a:pPr algn="ctr"/>
            <a:r>
              <a:rPr sz="850" b="0">
                <a:solidFill>
                  <a:srgbClr val="404040"/>
                </a:solidFill>
                <a:latin typeface="Times New Roman"/>
                <a:ea typeface="宋体"/>
              </a:rPr>
              <a:t>连续感官标签</a:t>
            </a:r>
          </a:p>
          <a:p>
            <a:pPr algn="ctr"/>
            <a:r>
              <a:rPr sz="850" b="0">
                <a:solidFill>
                  <a:srgbClr val="404040"/>
                </a:solidFill>
                <a:latin typeface="Times New Roman"/>
                <a:ea typeface="宋体"/>
              </a:rPr>
              <a:t>（250×50）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45152" y="164592"/>
            <a:ext cx="2039112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EA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9000" bIns="9000"/>
          <a:lstStyle/>
          <a:p>
            <a:pPr algn="ctr"/>
            <a:r>
              <a:rPr sz="1100" b="1">
                <a:solidFill>
                  <a:srgbClr val="262626"/>
                </a:solidFill>
                <a:latin typeface="Times New Roman"/>
                <a:ea typeface="宋体"/>
              </a:rPr>
              <a:t>3.xlsx</a:t>
            </a:r>
          </a:p>
          <a:p>
            <a:pPr algn="ctr"/>
            <a:r>
              <a:rPr sz="850" b="0">
                <a:solidFill>
                  <a:srgbClr val="404040"/>
                </a:solidFill>
                <a:latin typeface="Times New Roman"/>
                <a:ea typeface="宋体"/>
              </a:rPr>
              <a:t>评分卡模板</a:t>
            </a:r>
          </a:p>
          <a:p>
            <a:pPr algn="ctr"/>
            <a:r>
              <a:rPr sz="850" b="0">
                <a:solidFill>
                  <a:srgbClr val="404040"/>
                </a:solidFill>
                <a:latin typeface="Times New Roman"/>
                <a:ea typeface="宋体"/>
              </a:rPr>
              <a:t>（12×52）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30568" y="164592"/>
            <a:ext cx="2039112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EA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9000" bIns="9000"/>
          <a:lstStyle/>
          <a:p>
            <a:pPr algn="ctr"/>
            <a:r>
              <a:rPr sz="1100" b="1">
                <a:solidFill>
                  <a:srgbClr val="262626"/>
                </a:solidFill>
                <a:latin typeface="Times New Roman"/>
                <a:ea typeface="宋体"/>
              </a:rPr>
              <a:t>8.xlsx</a:t>
            </a:r>
          </a:p>
          <a:p>
            <a:pPr algn="ctr"/>
            <a:r>
              <a:rPr sz="850" b="0">
                <a:solidFill>
                  <a:srgbClr val="404040"/>
                </a:solidFill>
                <a:latin typeface="Times New Roman"/>
                <a:ea typeface="宋体"/>
              </a:rPr>
              <a:t>校准浓度与阈值信息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293876" y="786384"/>
            <a:ext cx="0" cy="109728"/>
          </a:xfrm>
          <a:prstGeom prst="line">
            <a:avLst/>
          </a:prstGeom>
          <a:ln w="12700">
            <a:solidFill>
              <a:srgbClr val="4A55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479291" y="786384"/>
            <a:ext cx="0" cy="109728"/>
          </a:xfrm>
          <a:prstGeom prst="line">
            <a:avLst/>
          </a:prstGeom>
          <a:ln w="12700">
            <a:solidFill>
              <a:srgbClr val="4A55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664708" y="786384"/>
            <a:ext cx="0" cy="109728"/>
          </a:xfrm>
          <a:prstGeom prst="line">
            <a:avLst/>
          </a:prstGeom>
          <a:ln w="12700">
            <a:solidFill>
              <a:srgbClr val="4A55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850123" y="786384"/>
            <a:ext cx="0" cy="109728"/>
          </a:xfrm>
          <a:prstGeom prst="line">
            <a:avLst/>
          </a:prstGeom>
          <a:ln w="12700">
            <a:solidFill>
              <a:srgbClr val="4A55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293876" y="896112"/>
            <a:ext cx="6556247" cy="0"/>
          </a:xfrm>
          <a:prstGeom prst="line">
            <a:avLst/>
          </a:prstGeom>
          <a:ln w="12700">
            <a:solidFill>
              <a:srgbClr val="4A55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572000" y="896112"/>
            <a:ext cx="0" cy="164592"/>
          </a:xfrm>
          <a:prstGeom prst="line">
            <a:avLst/>
          </a:prstGeom>
          <a:ln w="15875">
            <a:solidFill>
              <a:srgbClr val="1F386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920240" y="1060704"/>
            <a:ext cx="5303520" cy="640080"/>
          </a:xfrm>
          <a:prstGeom prst="roundRect">
            <a:avLst>
              <a:gd name="adj" fmla="val 6000"/>
            </a:avLst>
          </a:prstGeom>
          <a:solidFill>
            <a:srgbClr val="EDF2F9"/>
          </a:solidFill>
          <a:ln w="12700">
            <a:solidFill>
              <a:srgbClr val="8EA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9000" bIns="9000"/>
          <a:lstStyle/>
          <a:p>
            <a:pPr algn="ctr"/>
            <a:r>
              <a:rPr sz="1150" b="1">
                <a:solidFill>
                  <a:srgbClr val="1F3864"/>
                </a:solidFill>
                <a:latin typeface="Times New Roman"/>
                <a:ea typeface="宋体"/>
              </a:rPr>
              <a:t>数据对齐与任务界定</a:t>
            </a:r>
          </a:p>
          <a:p>
            <a:pPr algn="ctr"/>
            <a:r>
              <a:rPr sz="900" b="0">
                <a:solidFill>
                  <a:srgbClr val="404040"/>
                </a:solidFill>
                <a:latin typeface="Times New Roman"/>
                <a:ea typeface="宋体"/>
              </a:rPr>
              <a:t>按 beer 主键对齐；明确 50 个连续感官目标与 52 个评分位置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72000" y="1700784"/>
            <a:ext cx="0" cy="164592"/>
          </a:xfrm>
          <a:prstGeom prst="line">
            <a:avLst/>
          </a:prstGeom>
          <a:ln w="15875">
            <a:solidFill>
              <a:srgbClr val="1F386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920240" y="1865376"/>
            <a:ext cx="5303520" cy="603504"/>
          </a:xfrm>
          <a:prstGeom prst="roundRect">
            <a:avLst>
              <a:gd name="adj" fmla="val 6000"/>
            </a:avLst>
          </a:prstGeom>
          <a:solidFill>
            <a:srgbClr val="EDF2F9"/>
          </a:solidFill>
          <a:ln w="12700">
            <a:solidFill>
              <a:srgbClr val="8EA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9000" bIns="9000"/>
          <a:lstStyle/>
          <a:p>
            <a:pPr algn="ctr"/>
            <a:r>
              <a:rPr sz="1150" b="1">
                <a:solidFill>
                  <a:srgbClr val="1F3864"/>
                </a:solidFill>
                <a:latin typeface="Times New Roman"/>
                <a:ea typeface="宋体"/>
              </a:rPr>
              <a:t>开发集划分</a:t>
            </a:r>
          </a:p>
          <a:p>
            <a:pPr algn="ctr"/>
            <a:r>
              <a:rPr sz="900" b="0">
                <a:solidFill>
                  <a:srgbClr val="404040"/>
                </a:solidFill>
                <a:latin typeface="Times New Roman"/>
                <a:ea typeface="宋体"/>
              </a:rPr>
              <a:t>固定 Beer 1–12 为目标集；Beer 13–250 为开发集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572000" y="2468880"/>
            <a:ext cx="0" cy="164592"/>
          </a:xfrm>
          <a:prstGeom prst="line">
            <a:avLst/>
          </a:prstGeom>
          <a:ln w="15875">
            <a:solidFill>
              <a:srgbClr val="1F386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74320" y="2633472"/>
            <a:ext cx="8595360" cy="859536"/>
          </a:xfrm>
          <a:prstGeom prst="roundRect">
            <a:avLst>
              <a:gd name="adj" fmla="val 6000"/>
            </a:avLst>
          </a:prstGeom>
          <a:solidFill>
            <a:srgbClr val="EFF4FB"/>
          </a:solidFill>
          <a:ln w="12700">
            <a:solidFill>
              <a:srgbClr val="7FA3D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0896" y="2633472"/>
            <a:ext cx="868680" cy="859536"/>
          </a:xfrm>
          <a:prstGeom prst="rect">
            <a:avLst/>
          </a:prstGeom>
          <a:noFill/>
        </p:spPr>
        <p:txBody>
          <a:bodyPr wrap="square" anchor="ctr" lIns="27000" rIns="27000" tIns="9000" bIns="9000">
            <a:spAutoFit/>
          </a:bodyPr>
          <a:lstStyle/>
          <a:p>
            <a:pPr algn="ctr"/>
            <a:r>
              <a:rPr sz="1000" b="1">
                <a:solidFill>
                  <a:srgbClr val="1F3864"/>
                </a:solidFill>
                <a:latin typeface="Times New Roman"/>
                <a:ea typeface="宋体"/>
              </a:rPr>
              <a:t>数据预处理</a:t>
            </a:r>
          </a:p>
          <a:p>
            <a:pPr algn="ctr"/>
            <a:r>
              <a:rPr sz="1000" b="1">
                <a:solidFill>
                  <a:srgbClr val="1F3864"/>
                </a:solidFill>
                <a:latin typeface="Times New Roman"/>
                <a:ea typeface="宋体"/>
              </a:rPr>
              <a:t>与验证策略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34440" y="2724912"/>
            <a:ext cx="2377440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EA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9000" bIns="9000"/>
          <a:lstStyle/>
          <a:p>
            <a:pPr algn="ctr"/>
            <a:r>
              <a:rPr sz="1000" b="1">
                <a:solidFill>
                  <a:srgbClr val="262626"/>
                </a:solidFill>
                <a:latin typeface="Times New Roman"/>
                <a:ea typeface="宋体"/>
              </a:rPr>
              <a:t>按 tasting_category_fine</a:t>
            </a:r>
          </a:p>
          <a:p>
            <a:pPr algn="ctr"/>
            <a:r>
              <a:rPr sz="1000" b="1">
                <a:solidFill>
                  <a:srgbClr val="262626"/>
                </a:solidFill>
                <a:latin typeface="Times New Roman"/>
                <a:ea typeface="宋体"/>
              </a:rPr>
              <a:t>分层五折交叉验证</a:t>
            </a:r>
          </a:p>
          <a:p>
            <a:pPr algn="ctr"/>
            <a:r>
              <a:rPr sz="900" b="0">
                <a:solidFill>
                  <a:srgbClr val="404040"/>
                </a:solidFill>
                <a:latin typeface="Times New Roman"/>
                <a:ea typeface="宋体"/>
              </a:rPr>
              <a:t>（在开发集上）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627882" y="3063240"/>
            <a:ext cx="219456" cy="0"/>
          </a:xfrm>
          <a:prstGeom prst="line">
            <a:avLst/>
          </a:prstGeom>
          <a:ln w="15875">
            <a:solidFill>
              <a:srgbClr val="1F386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863339" y="2724912"/>
            <a:ext cx="2377440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EA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9000" bIns="9000"/>
          <a:lstStyle/>
          <a:p>
            <a:pPr algn="ctr"/>
            <a:r>
              <a:rPr sz="1000" b="1">
                <a:solidFill>
                  <a:srgbClr val="262626"/>
                </a:solidFill>
                <a:latin typeface="Times New Roman"/>
                <a:ea typeface="宋体"/>
              </a:rPr>
              <a:t>折内数据预处理</a:t>
            </a:r>
          </a:p>
          <a:p>
            <a:pPr algn="ctr"/>
            <a:r>
              <a:rPr sz="900" b="0">
                <a:solidFill>
                  <a:srgbClr val="404040"/>
                </a:solidFill>
                <a:latin typeface="Times New Roman"/>
                <a:ea typeface="宋体"/>
              </a:rPr>
              <a:t>（缺失值填补与标准化）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256781" y="3063240"/>
            <a:ext cx="219457" cy="0"/>
          </a:xfrm>
          <a:prstGeom prst="line">
            <a:avLst/>
          </a:prstGeom>
          <a:ln w="15875">
            <a:solidFill>
              <a:srgbClr val="1F386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492240" y="2724912"/>
            <a:ext cx="2377440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EA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9000" bIns="9000"/>
          <a:lstStyle/>
          <a:p>
            <a:pPr algn="ctr"/>
            <a:r>
              <a:rPr sz="1000" b="1">
                <a:solidFill>
                  <a:srgbClr val="262626"/>
                </a:solidFill>
                <a:latin typeface="Times New Roman"/>
                <a:ea typeface="宋体"/>
              </a:rPr>
              <a:t>避免信息泄漏</a:t>
            </a:r>
          </a:p>
          <a:p>
            <a:pPr algn="ctr"/>
            <a:r>
              <a:rPr sz="900" b="0">
                <a:solidFill>
                  <a:srgbClr val="404040"/>
                </a:solidFill>
                <a:latin typeface="Times New Roman"/>
                <a:ea typeface="宋体"/>
              </a:rPr>
              <a:t>（预处理仅用训练折，</a:t>
            </a:r>
          </a:p>
          <a:p>
            <a:pPr algn="ctr"/>
            <a:r>
              <a:rPr sz="900" b="0">
                <a:solidFill>
                  <a:srgbClr val="404040"/>
                </a:solidFill>
                <a:latin typeface="Times New Roman"/>
                <a:ea typeface="宋体"/>
              </a:rPr>
              <a:t>并应用于验证折）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572000" y="3493008"/>
            <a:ext cx="0" cy="164592"/>
          </a:xfrm>
          <a:prstGeom prst="line">
            <a:avLst/>
          </a:prstGeom>
          <a:ln w="15875">
            <a:solidFill>
              <a:srgbClr val="1F386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274320" y="3657600"/>
            <a:ext cx="8595360" cy="1389888"/>
          </a:xfrm>
          <a:prstGeom prst="roundRect">
            <a:avLst>
              <a:gd name="adj" fmla="val 6000"/>
            </a:avLst>
          </a:prstGeom>
          <a:solidFill>
            <a:srgbClr val="F1F8EF"/>
          </a:solidFill>
          <a:ln w="12700">
            <a:solidFill>
              <a:srgbClr val="9BBF9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0896" y="3657600"/>
            <a:ext cx="868680" cy="1389888"/>
          </a:xfrm>
          <a:prstGeom prst="rect">
            <a:avLst/>
          </a:prstGeom>
          <a:noFill/>
        </p:spPr>
        <p:txBody>
          <a:bodyPr wrap="square" anchor="ctr" lIns="27000" rIns="27000" tIns="9000" bIns="9000">
            <a:spAutoFit/>
          </a:bodyPr>
          <a:lstStyle/>
          <a:p>
            <a:pPr algn="ctr"/>
            <a:r>
              <a:rPr sz="1000" b="1">
                <a:solidFill>
                  <a:srgbClr val="1F3864"/>
                </a:solidFill>
                <a:latin typeface="Times New Roman"/>
                <a:ea typeface="宋体"/>
              </a:rPr>
              <a:t>模型比较</a:t>
            </a:r>
          </a:p>
          <a:p>
            <a:pPr algn="ctr"/>
            <a:r>
              <a:rPr sz="1000" b="1">
                <a:solidFill>
                  <a:srgbClr val="1F3864"/>
                </a:solidFill>
                <a:latin typeface="Times New Roman"/>
                <a:ea typeface="宋体"/>
              </a:rPr>
              <a:t>与集成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34440" y="3803904"/>
            <a:ext cx="1188720" cy="365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EA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9000" bIns="9000"/>
          <a:lstStyle/>
          <a:p>
            <a:pPr algn="ctr"/>
            <a:r>
              <a:rPr sz="950" b="0">
                <a:solidFill>
                  <a:srgbClr val="262626"/>
                </a:solidFill>
                <a:latin typeface="Times New Roman"/>
                <a:ea typeface="宋体"/>
              </a:rPr>
              <a:t>均值基线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514600" y="3803904"/>
            <a:ext cx="1188720" cy="365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EA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9000" bIns="9000"/>
          <a:lstStyle/>
          <a:p>
            <a:pPr algn="ctr"/>
            <a:r>
              <a:rPr sz="950" b="0">
                <a:solidFill>
                  <a:srgbClr val="262626"/>
                </a:solidFill>
                <a:latin typeface="Times New Roman"/>
                <a:ea typeface="宋体"/>
              </a:rPr>
              <a:t>岭回归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794760" y="3803904"/>
            <a:ext cx="1188720" cy="365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EA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9000" bIns="9000"/>
          <a:lstStyle/>
          <a:p>
            <a:pPr algn="ctr"/>
            <a:r>
              <a:rPr sz="950" b="0">
                <a:solidFill>
                  <a:srgbClr val="262626"/>
                </a:solidFill>
                <a:latin typeface="Times New Roman"/>
                <a:ea typeface="宋体"/>
              </a:rPr>
              <a:t>PCR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74920" y="3803904"/>
            <a:ext cx="1188720" cy="365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EA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9000" bIns="9000"/>
          <a:lstStyle/>
          <a:p>
            <a:pPr algn="ctr"/>
            <a:r>
              <a:rPr sz="900" b="0">
                <a:solidFill>
                  <a:srgbClr val="262626"/>
                </a:solidFill>
                <a:latin typeface="Times New Roman"/>
                <a:ea typeface="宋体"/>
              </a:rPr>
              <a:t>ExtraTrees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55080" y="3803904"/>
            <a:ext cx="1188720" cy="365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EA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9000" bIns="9000"/>
          <a:lstStyle/>
          <a:p>
            <a:pPr algn="ctr"/>
            <a:r>
              <a:rPr sz="950" b="0">
                <a:solidFill>
                  <a:srgbClr val="262626"/>
                </a:solidFill>
                <a:latin typeface="Times New Roman"/>
                <a:ea typeface="宋体"/>
              </a:rPr>
              <a:t>随机森林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35240" y="3803904"/>
            <a:ext cx="1188720" cy="365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EA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9000" bIns="9000"/>
          <a:lstStyle/>
          <a:p>
            <a:pPr algn="ctr"/>
            <a:r>
              <a:rPr sz="900" b="0">
                <a:solidFill>
                  <a:srgbClr val="262626"/>
                </a:solidFill>
                <a:latin typeface="Times New Roman"/>
                <a:ea typeface="宋体"/>
              </a:rPr>
              <a:t>Gradient Boosting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0056" y="3749040"/>
            <a:ext cx="3858768" cy="47548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9BBF9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5669280" y="4183380"/>
            <a:ext cx="0" cy="137160"/>
          </a:xfrm>
          <a:prstGeom prst="line">
            <a:avLst/>
          </a:prstGeom>
          <a:ln w="15875">
            <a:solidFill>
              <a:srgbClr val="1F386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949440" y="4183380"/>
            <a:ext cx="0" cy="137160"/>
          </a:xfrm>
          <a:prstGeom prst="line">
            <a:avLst/>
          </a:prstGeom>
          <a:ln w="15875">
            <a:solidFill>
              <a:srgbClr val="1F386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229600" y="4183380"/>
            <a:ext cx="0" cy="137160"/>
          </a:xfrm>
          <a:prstGeom prst="line">
            <a:avLst/>
          </a:prstGeom>
          <a:ln w="15875">
            <a:solidFill>
              <a:srgbClr val="1F386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5020056" y="4315968"/>
            <a:ext cx="3858768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EA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9000" bIns="9000"/>
          <a:lstStyle/>
          <a:p>
            <a:pPr algn="ctr"/>
            <a:r>
              <a:rPr sz="1000" b="1">
                <a:solidFill>
                  <a:srgbClr val="1F3864"/>
                </a:solidFill>
                <a:latin typeface="Times New Roman"/>
                <a:ea typeface="宋体"/>
              </a:rPr>
              <a:t>加权树模型集成（ET / RF / GB）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828800" y="4169664"/>
            <a:ext cx="0" cy="713232"/>
          </a:xfrm>
          <a:prstGeom prst="line">
            <a:avLst/>
          </a:prstGeom>
          <a:ln w="12700">
            <a:solidFill>
              <a:srgbClr val="4A55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108960" y="4169664"/>
            <a:ext cx="0" cy="713232"/>
          </a:xfrm>
          <a:prstGeom prst="line">
            <a:avLst/>
          </a:prstGeom>
          <a:ln w="12700">
            <a:solidFill>
              <a:srgbClr val="4A55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389120" y="4169664"/>
            <a:ext cx="0" cy="713232"/>
          </a:xfrm>
          <a:prstGeom prst="line">
            <a:avLst/>
          </a:prstGeom>
          <a:ln w="12700">
            <a:solidFill>
              <a:srgbClr val="4A55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6949440" y="4700016"/>
            <a:ext cx="0" cy="182880"/>
          </a:xfrm>
          <a:prstGeom prst="line">
            <a:avLst/>
          </a:prstGeom>
          <a:ln w="12700">
            <a:solidFill>
              <a:srgbClr val="4A55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828800" y="4882896"/>
            <a:ext cx="5120640" cy="0"/>
          </a:xfrm>
          <a:prstGeom prst="line">
            <a:avLst/>
          </a:prstGeom>
          <a:ln w="12700">
            <a:solidFill>
              <a:srgbClr val="4A55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572000" y="4882896"/>
            <a:ext cx="0" cy="164592"/>
          </a:xfrm>
          <a:prstGeom prst="line">
            <a:avLst/>
          </a:prstGeom>
          <a:ln w="12700">
            <a:solidFill>
              <a:srgbClr val="4A55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2000" y="5047488"/>
            <a:ext cx="0" cy="164591"/>
          </a:xfrm>
          <a:prstGeom prst="line">
            <a:avLst/>
          </a:prstGeom>
          <a:ln w="15875">
            <a:solidFill>
              <a:srgbClr val="1F386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1737360" y="5212080"/>
            <a:ext cx="5669280" cy="603504"/>
          </a:xfrm>
          <a:prstGeom prst="roundRect">
            <a:avLst>
              <a:gd name="adj" fmla="val 6000"/>
            </a:avLst>
          </a:prstGeom>
          <a:solidFill>
            <a:srgbClr val="FDF6EC"/>
          </a:solidFill>
          <a:ln w="12700">
            <a:solidFill>
              <a:srgbClr val="E0B3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9000" bIns="9000"/>
          <a:lstStyle/>
          <a:p>
            <a:pPr algn="ctr"/>
            <a:r>
              <a:rPr sz="1150" b="1">
                <a:solidFill>
                  <a:srgbClr val="1F3864"/>
                </a:solidFill>
                <a:latin typeface="Times New Roman"/>
                <a:ea typeface="宋体"/>
              </a:rPr>
              <a:t>50 维连续感官预测</a:t>
            </a:r>
          </a:p>
          <a:p>
            <a:pPr algn="ctr"/>
            <a:r>
              <a:rPr sz="900" b="0">
                <a:solidFill>
                  <a:srgbClr val="404040"/>
                </a:solidFill>
                <a:latin typeface="Times New Roman"/>
                <a:ea typeface="宋体"/>
              </a:rPr>
              <a:t>基于加权树集成，输出 250 款啤酒的 50 个连续感官预测值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4572000" y="5815584"/>
            <a:ext cx="0" cy="164592"/>
          </a:xfrm>
          <a:prstGeom prst="line">
            <a:avLst/>
          </a:prstGeom>
          <a:ln w="15875">
            <a:solidFill>
              <a:srgbClr val="1F386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274320" y="5980176"/>
            <a:ext cx="8595360" cy="914400"/>
          </a:xfrm>
          <a:prstGeom prst="roundRect">
            <a:avLst>
              <a:gd name="adj" fmla="val 6000"/>
            </a:avLst>
          </a:prstGeom>
          <a:solidFill>
            <a:srgbClr val="EFF4FB"/>
          </a:solidFill>
          <a:ln w="12700">
            <a:solidFill>
              <a:srgbClr val="7FA3D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10896" y="5980176"/>
            <a:ext cx="896112" cy="914400"/>
          </a:xfrm>
          <a:prstGeom prst="rect">
            <a:avLst/>
          </a:prstGeom>
          <a:noFill/>
        </p:spPr>
        <p:txBody>
          <a:bodyPr wrap="square" anchor="ctr" lIns="27000" rIns="27000" tIns="9000" bIns="9000">
            <a:spAutoFit/>
          </a:bodyPr>
          <a:lstStyle/>
          <a:p>
            <a:pPr algn="ctr"/>
            <a:r>
              <a:rPr sz="1000" b="1">
                <a:solidFill>
                  <a:srgbClr val="1F3864"/>
                </a:solidFill>
                <a:latin typeface="Times New Roman"/>
                <a:ea typeface="宋体"/>
              </a:rPr>
              <a:t>连续值到</a:t>
            </a:r>
          </a:p>
          <a:p>
            <a:pPr algn="ctr"/>
            <a:r>
              <a:rPr sz="1000" b="1">
                <a:solidFill>
                  <a:srgbClr val="1F3864"/>
                </a:solidFill>
                <a:latin typeface="Times New Roman"/>
                <a:ea typeface="宋体"/>
              </a:rPr>
              <a:t>评分等级转换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298448" y="6089904"/>
            <a:ext cx="3611880" cy="694944"/>
          </a:xfrm>
          <a:prstGeom prst="roundRect">
            <a:avLst>
              <a:gd name="adj" fmla="val 6000"/>
            </a:avLst>
          </a:prstGeom>
          <a:solidFill>
            <a:srgbClr val="EDF2F9"/>
          </a:solidFill>
          <a:ln w="12700">
            <a:solidFill>
              <a:srgbClr val="8EA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9000" bIns="9000"/>
          <a:lstStyle/>
          <a:p>
            <a:pPr algn="ctr"/>
            <a:r>
              <a:rPr sz="1050" b="1">
                <a:solidFill>
                  <a:srgbClr val="1F3864"/>
                </a:solidFill>
                <a:latin typeface="Times New Roman"/>
                <a:ea typeface="宋体"/>
              </a:rPr>
              <a:t>50 个监督位置</a:t>
            </a:r>
          </a:p>
          <a:p>
            <a:pPr algn="ctr"/>
            <a:r>
              <a:rPr sz="900" b="0">
                <a:solidFill>
                  <a:srgbClr val="404040"/>
                </a:solidFill>
                <a:latin typeface="Times New Roman"/>
                <a:ea typeface="宋体"/>
              </a:rPr>
              <a:t>基于开发集 238 个样本的 1% / 99% 分位锚点</a:t>
            </a:r>
          </a:p>
          <a:p>
            <a:pPr algn="ctr"/>
            <a:r>
              <a:rPr sz="900" b="0">
                <a:solidFill>
                  <a:srgbClr val="404040"/>
                </a:solidFill>
                <a:latin typeface="Times New Roman"/>
                <a:ea typeface="宋体"/>
              </a:rPr>
              <a:t>将连续预测值映射为 0–6 等级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074920" y="6089904"/>
            <a:ext cx="3611880" cy="694944"/>
          </a:xfrm>
          <a:prstGeom prst="roundRect">
            <a:avLst>
              <a:gd name="adj" fmla="val 6000"/>
            </a:avLst>
          </a:prstGeom>
          <a:solidFill>
            <a:srgbClr val="EDF2F9"/>
          </a:solidFill>
          <a:ln w="12700">
            <a:solidFill>
              <a:srgbClr val="8EA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9000" bIns="9000"/>
          <a:lstStyle/>
          <a:p>
            <a:pPr algn="ctr"/>
            <a:r>
              <a:rPr sz="1050" b="1">
                <a:solidFill>
                  <a:srgbClr val="1F3864"/>
                </a:solidFill>
                <a:latin typeface="Times New Roman"/>
                <a:ea typeface="宋体"/>
              </a:rPr>
              <a:t>两项乙醛位置</a:t>
            </a:r>
          </a:p>
          <a:p>
            <a:pPr algn="ctr"/>
            <a:r>
              <a:rPr sz="900" b="0">
                <a:solidFill>
                  <a:srgbClr val="404040"/>
                </a:solidFill>
                <a:latin typeface="Times New Roman"/>
                <a:ea typeface="宋体"/>
              </a:rPr>
              <a:t>使用 8.xlsx 的校准浓度与阈值规则</a:t>
            </a:r>
          </a:p>
          <a:p>
            <a:pPr algn="ctr"/>
            <a:r>
              <a:rPr sz="900" b="0">
                <a:solidFill>
                  <a:srgbClr val="404040"/>
                </a:solidFill>
                <a:latin typeface="Times New Roman"/>
                <a:ea typeface="宋体"/>
              </a:rPr>
              <a:t>进行独立外推（不进行监督学习）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3104388" y="6784848"/>
            <a:ext cx="0" cy="54864"/>
          </a:xfrm>
          <a:prstGeom prst="line">
            <a:avLst/>
          </a:prstGeom>
          <a:ln w="12700">
            <a:solidFill>
              <a:srgbClr val="4A55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6880860" y="6784848"/>
            <a:ext cx="0" cy="54864"/>
          </a:xfrm>
          <a:prstGeom prst="line">
            <a:avLst/>
          </a:prstGeom>
          <a:ln w="12700">
            <a:solidFill>
              <a:srgbClr val="4A55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3104388" y="6839712"/>
            <a:ext cx="3776472" cy="0"/>
          </a:xfrm>
          <a:prstGeom prst="line">
            <a:avLst/>
          </a:prstGeom>
          <a:ln w="12700">
            <a:solidFill>
              <a:srgbClr val="4A55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572000" y="6839712"/>
            <a:ext cx="0" cy="219456"/>
          </a:xfrm>
          <a:prstGeom prst="line">
            <a:avLst/>
          </a:prstGeom>
          <a:ln w="15875">
            <a:solidFill>
              <a:srgbClr val="1F386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4572000" y="6839712"/>
            <a:ext cx="0" cy="54864"/>
          </a:xfrm>
          <a:prstGeom prst="line">
            <a:avLst/>
          </a:prstGeom>
          <a:ln w="12700">
            <a:solidFill>
              <a:srgbClr val="4A55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2103120" y="7059168"/>
            <a:ext cx="4937760" cy="658368"/>
          </a:xfrm>
          <a:prstGeom prst="roundRect">
            <a:avLst>
              <a:gd name="adj" fmla="val 6000"/>
            </a:avLst>
          </a:prstGeom>
          <a:solidFill>
            <a:srgbClr val="F0EBFA"/>
          </a:solidFill>
          <a:ln w="12700">
            <a:solidFill>
              <a:srgbClr val="B4A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9000" bIns="9000"/>
          <a:lstStyle/>
          <a:p>
            <a:pPr algn="ctr"/>
            <a:r>
              <a:rPr sz="1150" b="1">
                <a:solidFill>
                  <a:srgbClr val="1F3864"/>
                </a:solidFill>
                <a:latin typeface="Times New Roman"/>
                <a:ea typeface="宋体"/>
              </a:rPr>
              <a:t>输出 12 张评分卡（52 项）</a:t>
            </a:r>
          </a:p>
          <a:p>
            <a:pPr algn="ctr"/>
            <a:r>
              <a:rPr sz="900" b="0">
                <a:solidFill>
                  <a:srgbClr val="404040"/>
                </a:solidFill>
                <a:latin typeface="Times New Roman"/>
                <a:ea typeface="宋体"/>
              </a:rPr>
              <a:t>为 Beer 1–12 生成完整评分卡</a:t>
            </a:r>
          </a:p>
          <a:p>
            <a:pPr algn="ctr"/>
            <a:r>
              <a:rPr sz="900" b="0">
                <a:solidFill>
                  <a:srgbClr val="404040"/>
                </a:solidFill>
                <a:latin typeface="Times New Roman"/>
                <a:ea typeface="宋体"/>
              </a:rPr>
              <a:t>（50 个监督位置 + 2 项乙醛位置）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4572000" y="7717536"/>
            <a:ext cx="0" cy="164591"/>
          </a:xfrm>
          <a:prstGeom prst="line">
            <a:avLst/>
          </a:prstGeom>
          <a:ln w="15875">
            <a:solidFill>
              <a:srgbClr val="1F386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2103120" y="7882127"/>
            <a:ext cx="4937760" cy="566928"/>
          </a:xfrm>
          <a:prstGeom prst="roundRect">
            <a:avLst>
              <a:gd name="adj" fmla="val 6000"/>
            </a:avLst>
          </a:prstGeom>
          <a:solidFill>
            <a:srgbClr val="FBEDEC"/>
          </a:solidFill>
          <a:ln w="12700">
            <a:solidFill>
              <a:srgbClr val="D988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9000" bIns="9000"/>
          <a:lstStyle/>
          <a:p>
            <a:pPr algn="ctr"/>
            <a:r>
              <a:rPr sz="1150" b="1">
                <a:solidFill>
                  <a:srgbClr val="1F3864"/>
                </a:solidFill>
                <a:latin typeface="Times New Roman"/>
                <a:ea typeface="宋体"/>
              </a:rPr>
              <a:t>评价结果</a:t>
            </a:r>
          </a:p>
          <a:p>
            <a:pPr algn="ctr"/>
            <a:r>
              <a:rPr sz="900" b="0">
                <a:solidFill>
                  <a:srgbClr val="404040"/>
                </a:solidFill>
                <a:latin typeface="Times New Roman"/>
                <a:ea typeface="宋体"/>
              </a:rPr>
              <a:t>开发集 OOF 与 12 款事后检验；报告 MAE、合并 R²、代理等级一致性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