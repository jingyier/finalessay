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86410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01168"/>
            <a:ext cx="202539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1050" b="1">
                <a:solidFill>
                  <a:srgbClr val="262626"/>
                </a:solidFill>
                <a:latin typeface="微软雅黑"/>
              </a:rPr>
              <a:t>1.csv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微软雅黑"/>
              </a:rPr>
              <a:t>化学与理化特征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微软雅黑"/>
              </a:rPr>
              <a:t>（250×231）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64308" y="201168"/>
            <a:ext cx="202539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1050" b="1">
                <a:solidFill>
                  <a:srgbClr val="262626"/>
                </a:solidFill>
                <a:latin typeface="微软雅黑"/>
              </a:rPr>
              <a:t>4.csv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微软雅黑"/>
              </a:rPr>
              <a:t>连续感官标签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微软雅黑"/>
              </a:rPr>
              <a:t>（250×50）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54296" y="201168"/>
            <a:ext cx="202539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1050" b="1">
                <a:solidFill>
                  <a:srgbClr val="262626"/>
                </a:solidFill>
                <a:latin typeface="微软雅黑"/>
              </a:rPr>
              <a:t>3.xlsx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微软雅黑"/>
              </a:rPr>
              <a:t>评分卡模板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微软雅黑"/>
              </a:rPr>
              <a:t>（12×52）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44284" y="201168"/>
            <a:ext cx="202539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1050" b="1">
                <a:solidFill>
                  <a:srgbClr val="262626"/>
                </a:solidFill>
                <a:latin typeface="微软雅黑"/>
              </a:rPr>
              <a:t>8.xlsx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微软雅黑"/>
              </a:rPr>
              <a:t>校准浓度与阈值信息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7018" y="914400"/>
            <a:ext cx="0" cy="109728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77006" y="914400"/>
            <a:ext cx="0" cy="109728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6994" y="914400"/>
            <a:ext cx="0" cy="109728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856982" y="914400"/>
            <a:ext cx="0" cy="109728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87018" y="1024128"/>
            <a:ext cx="6569964" cy="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own Arrow 10"/>
          <p:cNvSpPr/>
          <p:nvPr/>
        </p:nvSpPr>
        <p:spPr>
          <a:xfrm>
            <a:off x="4453128" y="1024128"/>
            <a:ext cx="237744" cy="164592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20240" y="1188720"/>
            <a:ext cx="5303520" cy="603504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1100" b="1">
                <a:solidFill>
                  <a:srgbClr val="1F3864"/>
                </a:solidFill>
                <a:latin typeface="微软雅黑"/>
              </a:rPr>
              <a:t>数据对齐与任务界定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微软雅黑"/>
              </a:rPr>
              <a:t>按 beer 主键对齐；明确 50 个连续感官目标与 52 个评分位置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453128" y="1792224"/>
            <a:ext cx="237744" cy="146304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20240" y="1938528"/>
            <a:ext cx="5303520" cy="603504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1100" b="1">
                <a:solidFill>
                  <a:srgbClr val="1F3864"/>
                </a:solidFill>
                <a:latin typeface="微软雅黑"/>
              </a:rPr>
              <a:t>开发集划分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微软雅黑"/>
              </a:rPr>
              <a:t>固定 Beer 1–12 为目标集；Beer 13–250 为开发集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453128" y="2542032"/>
            <a:ext cx="237744" cy="146304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" y="2688336"/>
            <a:ext cx="8595360" cy="969264"/>
          </a:xfrm>
          <a:prstGeom prst="roundRect">
            <a:avLst>
              <a:gd name="adj" fmla="val 6000"/>
            </a:avLst>
          </a:prstGeom>
          <a:solidFill>
            <a:srgbClr val="F0F5FB"/>
          </a:solidFill>
          <a:ln w="12700">
            <a:solidFill>
              <a:srgbClr val="7FA3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2688336"/>
            <a:ext cx="841248" cy="969264"/>
          </a:xfrm>
          <a:prstGeom prst="rect">
            <a:avLst/>
          </a:prstGeom>
          <a:noFill/>
        </p:spPr>
        <p:txBody>
          <a:bodyPr wrap="square" anchor="ctr" lIns="27000" rIns="27000" tIns="13500" bIns="13500">
            <a:spAutoFit/>
          </a:bodyPr>
          <a:lstStyle/>
          <a:p>
            <a:pPr algn="ctr"/>
            <a:r>
              <a:rPr sz="950" b="1">
                <a:solidFill>
                  <a:srgbClr val="1F3864"/>
                </a:solidFill>
                <a:latin typeface="微软雅黑"/>
              </a:rPr>
              <a:t>数据预处理</a:t>
            </a:r>
          </a:p>
          <a:p>
            <a:pPr algn="ctr"/>
            <a:r>
              <a:rPr sz="950" b="1">
                <a:solidFill>
                  <a:srgbClr val="1F3864"/>
                </a:solidFill>
                <a:latin typeface="微软雅黑"/>
              </a:rPr>
              <a:t>与验证策略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2852928"/>
            <a:ext cx="22860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900" b="1">
                <a:solidFill>
                  <a:srgbClr val="262626"/>
                </a:solidFill>
                <a:latin typeface="微软雅黑"/>
              </a:rPr>
              <a:t>按 tasting_category_fine</a:t>
            </a:r>
          </a:p>
          <a:p>
            <a:pPr algn="ctr"/>
            <a:r>
              <a:rPr sz="900" b="1">
                <a:solidFill>
                  <a:srgbClr val="262626"/>
                </a:solidFill>
                <a:latin typeface="微软雅黑"/>
              </a:rPr>
              <a:t>分层五折交叉验证</a:t>
            </a:r>
          </a:p>
          <a:p>
            <a:pPr algn="ctr"/>
            <a:r>
              <a:rPr sz="800" b="0">
                <a:solidFill>
                  <a:srgbClr val="404040"/>
                </a:solidFill>
                <a:latin typeface="微软雅黑"/>
              </a:rPr>
              <a:t>（在开发集上）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616452" y="3099816"/>
            <a:ext cx="219456" cy="146304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86200" y="2852928"/>
            <a:ext cx="22860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900" b="1">
                <a:solidFill>
                  <a:srgbClr val="262626"/>
                </a:solidFill>
                <a:latin typeface="微软雅黑"/>
              </a:rPr>
              <a:t>折内数据预处理</a:t>
            </a:r>
          </a:p>
          <a:p>
            <a:pPr algn="ctr"/>
            <a:r>
              <a:rPr sz="800" b="0">
                <a:solidFill>
                  <a:srgbClr val="404040"/>
                </a:solidFill>
                <a:latin typeface="微软雅黑"/>
              </a:rPr>
              <a:t>（缺失值填补与标准化）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222492" y="3099816"/>
            <a:ext cx="219456" cy="146304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2852928"/>
            <a:ext cx="22860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900" b="1">
                <a:solidFill>
                  <a:srgbClr val="262626"/>
                </a:solidFill>
                <a:latin typeface="微软雅黑"/>
              </a:rPr>
              <a:t>避免信息泄漏</a:t>
            </a:r>
          </a:p>
          <a:p>
            <a:pPr algn="ctr"/>
            <a:r>
              <a:rPr sz="800" b="0">
                <a:solidFill>
                  <a:srgbClr val="404040"/>
                </a:solidFill>
                <a:latin typeface="微软雅黑"/>
              </a:rPr>
              <a:t>（预处理仅用训练折，</a:t>
            </a:r>
          </a:p>
          <a:p>
            <a:pPr algn="ctr"/>
            <a:r>
              <a:rPr sz="800" b="0">
                <a:solidFill>
                  <a:srgbClr val="404040"/>
                </a:solidFill>
                <a:latin typeface="微软雅黑"/>
              </a:rPr>
              <a:t>并应用于验证折）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4453128" y="3657600"/>
            <a:ext cx="237744" cy="146304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4320" y="3803904"/>
            <a:ext cx="8595360" cy="1335024"/>
          </a:xfrm>
          <a:prstGeom prst="roundRect">
            <a:avLst>
              <a:gd name="adj" fmla="val 6000"/>
            </a:avLst>
          </a:prstGeom>
          <a:solidFill>
            <a:srgbClr val="F2F8F0"/>
          </a:solidFill>
          <a:ln w="12700">
            <a:solidFill>
              <a:srgbClr val="9BBF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" y="3803904"/>
            <a:ext cx="841248" cy="1335024"/>
          </a:xfrm>
          <a:prstGeom prst="rect">
            <a:avLst/>
          </a:prstGeom>
          <a:noFill/>
        </p:spPr>
        <p:txBody>
          <a:bodyPr wrap="square" anchor="ctr" lIns="27000" rIns="27000" tIns="13500" bIns="13500">
            <a:spAutoFit/>
          </a:bodyPr>
          <a:lstStyle/>
          <a:p>
            <a:pPr algn="ctr"/>
            <a:r>
              <a:rPr sz="950" b="1">
                <a:solidFill>
                  <a:srgbClr val="1F3864"/>
                </a:solidFill>
                <a:latin typeface="微软雅黑"/>
              </a:rPr>
              <a:t>模型比较</a:t>
            </a:r>
          </a:p>
          <a:p>
            <a:pPr algn="ctr"/>
            <a:r>
              <a:rPr sz="950" b="1">
                <a:solidFill>
                  <a:srgbClr val="1F3864"/>
                </a:solidFill>
                <a:latin typeface="微软雅黑"/>
              </a:rPr>
              <a:t>与集成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98448" y="3950208"/>
            <a:ext cx="1170432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850" b="0">
                <a:solidFill>
                  <a:srgbClr val="262626"/>
                </a:solidFill>
                <a:latin typeface="微软雅黑"/>
              </a:rPr>
              <a:t>均值基线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3950208"/>
            <a:ext cx="1170432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850" b="0">
                <a:solidFill>
                  <a:srgbClr val="262626"/>
                </a:solidFill>
                <a:latin typeface="微软雅黑"/>
              </a:rPr>
              <a:t>岭回归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22191" y="3950208"/>
            <a:ext cx="1170432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850" b="0">
                <a:solidFill>
                  <a:srgbClr val="262626"/>
                </a:solidFill>
                <a:latin typeface="微软雅黑"/>
              </a:rPr>
              <a:t>PCR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84064" y="3950208"/>
            <a:ext cx="1170432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800" b="0">
                <a:solidFill>
                  <a:srgbClr val="262626"/>
                </a:solidFill>
                <a:latin typeface="微软雅黑"/>
              </a:rPr>
              <a:t>ExtraTrees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45936" y="3950208"/>
            <a:ext cx="1170432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850" b="0">
                <a:solidFill>
                  <a:srgbClr val="262626"/>
                </a:solidFill>
                <a:latin typeface="微软雅黑"/>
              </a:rPr>
              <a:t>随机森林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07808" y="3950208"/>
            <a:ext cx="1170432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800" b="0">
                <a:solidFill>
                  <a:srgbClr val="262626"/>
                </a:solidFill>
                <a:latin typeface="微软雅黑"/>
              </a:rPr>
              <a:t>Gradient Boosting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3895344"/>
            <a:ext cx="3803904" cy="53035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9BBF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own Arrow 32"/>
          <p:cNvSpPr/>
          <p:nvPr/>
        </p:nvSpPr>
        <p:spPr>
          <a:xfrm>
            <a:off x="5577840" y="4389120"/>
            <a:ext cx="182880" cy="109728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own Arrow 33"/>
          <p:cNvSpPr/>
          <p:nvPr/>
        </p:nvSpPr>
        <p:spPr>
          <a:xfrm>
            <a:off x="6839712" y="4389120"/>
            <a:ext cx="182880" cy="109728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own Arrow 34"/>
          <p:cNvSpPr/>
          <p:nvPr/>
        </p:nvSpPr>
        <p:spPr>
          <a:xfrm>
            <a:off x="8101584" y="4389120"/>
            <a:ext cx="182880" cy="109728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0" y="4517136"/>
            <a:ext cx="3803904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900" b="1">
                <a:solidFill>
                  <a:srgbClr val="1F3864"/>
                </a:solidFill>
                <a:latin typeface="微软雅黑"/>
              </a:rPr>
              <a:t>加权树模型集成（ET / RF / GB）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微软雅黑"/>
              </a:rPr>
              <a:t/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883664" y="4370832"/>
            <a:ext cx="0" cy="64008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145536" y="4370832"/>
            <a:ext cx="0" cy="64008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407407" y="4370832"/>
            <a:ext cx="0" cy="64008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931152" y="4901184"/>
            <a:ext cx="0" cy="109728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883664" y="5010912"/>
            <a:ext cx="5047488" cy="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72000" y="5010912"/>
            <a:ext cx="0" cy="128016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Down Arrow 42"/>
          <p:cNvSpPr/>
          <p:nvPr/>
        </p:nvSpPr>
        <p:spPr>
          <a:xfrm>
            <a:off x="4453128" y="5138928"/>
            <a:ext cx="237744" cy="146304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737360" y="5285232"/>
            <a:ext cx="5669280" cy="566928"/>
          </a:xfrm>
          <a:prstGeom prst="roundRect">
            <a:avLst>
              <a:gd name="adj" fmla="val 6000"/>
            </a:avLst>
          </a:prstGeom>
          <a:solidFill>
            <a:srgbClr val="FDF6EC"/>
          </a:solidFill>
          <a:ln w="12700">
            <a:solidFill>
              <a:srgbClr val="E0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1100" b="1">
                <a:solidFill>
                  <a:srgbClr val="1F3864"/>
                </a:solidFill>
                <a:latin typeface="微软雅黑"/>
              </a:rPr>
              <a:t>50 维连续感官预测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微软雅黑"/>
              </a:rPr>
              <a:t>基于加权树集成，输出 250 款啤酒的 50 个连续感官预测值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4453128" y="5852160"/>
            <a:ext cx="237744" cy="146304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74320" y="5998464"/>
            <a:ext cx="8595360" cy="1024128"/>
          </a:xfrm>
          <a:prstGeom prst="roundRect">
            <a:avLst>
              <a:gd name="adj" fmla="val 6000"/>
            </a:avLst>
          </a:prstGeom>
          <a:solidFill>
            <a:srgbClr val="F0F5FB"/>
          </a:solidFill>
          <a:ln w="12700">
            <a:solidFill>
              <a:srgbClr val="7FA3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" y="5998464"/>
            <a:ext cx="868680" cy="1024128"/>
          </a:xfrm>
          <a:prstGeom prst="rect">
            <a:avLst/>
          </a:prstGeom>
          <a:noFill/>
        </p:spPr>
        <p:txBody>
          <a:bodyPr wrap="square" anchor="ctr" lIns="27000" rIns="27000" tIns="13500" bIns="13500">
            <a:spAutoFit/>
          </a:bodyPr>
          <a:lstStyle/>
          <a:p>
            <a:pPr algn="ctr"/>
            <a:r>
              <a:rPr sz="950" b="1">
                <a:solidFill>
                  <a:srgbClr val="1F3864"/>
                </a:solidFill>
                <a:latin typeface="微软雅黑"/>
              </a:rPr>
              <a:t>连续值到</a:t>
            </a:r>
          </a:p>
          <a:p>
            <a:pPr algn="ctr"/>
            <a:r>
              <a:rPr sz="950" b="1">
                <a:solidFill>
                  <a:srgbClr val="1F3864"/>
                </a:solidFill>
                <a:latin typeface="微软雅黑"/>
              </a:rPr>
              <a:t>评分等级转换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98448" y="6144768"/>
            <a:ext cx="3611880" cy="73152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950" b="1">
                <a:solidFill>
                  <a:srgbClr val="1F3864"/>
                </a:solidFill>
                <a:latin typeface="微软雅黑"/>
              </a:rPr>
              <a:t>50 个监督位置</a:t>
            </a:r>
          </a:p>
          <a:p>
            <a:pPr algn="ctr"/>
            <a:r>
              <a:rPr sz="800" b="0">
                <a:solidFill>
                  <a:srgbClr val="404040"/>
                </a:solidFill>
                <a:latin typeface="微软雅黑"/>
              </a:rPr>
              <a:t>基于开发集 238 个样本的 1% / 99% 分位锚点</a:t>
            </a:r>
          </a:p>
          <a:p>
            <a:pPr algn="ctr"/>
            <a:r>
              <a:rPr sz="800" b="0">
                <a:solidFill>
                  <a:srgbClr val="404040"/>
                </a:solidFill>
                <a:latin typeface="微软雅黑"/>
              </a:rPr>
              <a:t>将连续预测值映射为 0–6 等级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74920" y="6144768"/>
            <a:ext cx="3611880" cy="73152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950" b="1">
                <a:solidFill>
                  <a:srgbClr val="1F3864"/>
                </a:solidFill>
                <a:latin typeface="微软雅黑"/>
              </a:rPr>
              <a:t>两项乙醛位置</a:t>
            </a:r>
          </a:p>
          <a:p>
            <a:pPr algn="ctr"/>
            <a:r>
              <a:rPr sz="800" b="0">
                <a:solidFill>
                  <a:srgbClr val="404040"/>
                </a:solidFill>
                <a:latin typeface="微软雅黑"/>
              </a:rPr>
              <a:t>使用 8.xlsx 的校准浓度与阈值规则</a:t>
            </a:r>
          </a:p>
          <a:p>
            <a:pPr algn="ctr"/>
            <a:r>
              <a:rPr sz="800" b="0">
                <a:solidFill>
                  <a:srgbClr val="404040"/>
                </a:solidFill>
                <a:latin typeface="微软雅黑"/>
              </a:rPr>
              <a:t>进行独立外推（不进行监督学习）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104388" y="6876288"/>
            <a:ext cx="0" cy="73152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880860" y="6876288"/>
            <a:ext cx="0" cy="73152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104388" y="6949440"/>
            <a:ext cx="3776472" cy="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0" y="6949440"/>
            <a:ext cx="0" cy="73152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Down Arrow 53"/>
          <p:cNvSpPr/>
          <p:nvPr/>
        </p:nvSpPr>
        <p:spPr>
          <a:xfrm>
            <a:off x="4453128" y="7022592"/>
            <a:ext cx="237744" cy="146304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103120" y="7168896"/>
            <a:ext cx="4937760" cy="621792"/>
          </a:xfrm>
          <a:prstGeom prst="roundRect">
            <a:avLst>
              <a:gd name="adj" fmla="val 6000"/>
            </a:avLst>
          </a:prstGeom>
          <a:solidFill>
            <a:srgbClr val="F0EBFA"/>
          </a:solidFill>
          <a:ln w="12700">
            <a:solidFill>
              <a:srgbClr val="B4A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1100" b="1">
                <a:solidFill>
                  <a:srgbClr val="1F3864"/>
                </a:solidFill>
                <a:latin typeface="微软雅黑"/>
              </a:rPr>
              <a:t>输出 12 张评分卡（52 项）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微软雅黑"/>
              </a:rPr>
              <a:t>为 Beer 1–12 生成完整评分卡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微软雅黑"/>
              </a:rPr>
              <a:t>（50 个监督位置 + 2 项乙醛位置）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4453128" y="7790688"/>
            <a:ext cx="237744" cy="146304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2103120" y="7936992"/>
            <a:ext cx="4937760" cy="530352"/>
          </a:xfrm>
          <a:prstGeom prst="roundRect">
            <a:avLst>
              <a:gd name="adj" fmla="val 6000"/>
            </a:avLst>
          </a:prstGeom>
          <a:solidFill>
            <a:srgbClr val="FBEDEC"/>
          </a:solidFill>
          <a:ln w="12700">
            <a:solidFill>
              <a:srgbClr val="D988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13500" bIns="13500"/>
          <a:lstStyle/>
          <a:p>
            <a:pPr algn="ctr"/>
            <a:r>
              <a:rPr sz="1100" b="1">
                <a:solidFill>
                  <a:srgbClr val="1F3864"/>
                </a:solidFill>
                <a:latin typeface="微软雅黑"/>
              </a:rPr>
              <a:t>评价结果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微软雅黑"/>
              </a:rPr>
              <a:t>开发集 OOF 与 12 款事后检验；报告 MAE、合并 R²、代理等级一致性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